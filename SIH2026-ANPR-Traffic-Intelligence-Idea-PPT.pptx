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endParaRPr lang="en-US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26127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City-Wide AI Engine for Multi-Camera ANPR Trajectory Tracking and Urban Traffic Analytics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solidFill/>
                <a:latin typeface="Arial" panose="020B0604020202020204" pitchFamily="34" charset="0"/>
                <a:cs typeface="Arial" panose="020B0604020202020204" pitchFamily="34" charset="0"/>
              </a:rPr>
              <a:t>Theme – Smart Automation / Transportation &amp; Surveillance (BEL)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Team ID – [Insert registered Team ID]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1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[Insert registered Team Name]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331286" y="5900000"/>
            <a:ext cx="5450000" cy="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70C0"/>
                </a:solidFill>
                <a:latin typeface="Calibri"/>
              </a:rPr>
              <a:t>ANPR TRAFFIC INTELLIGENCE PLATFORM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1286" y="6420000"/>
            <a:ext cx="5450000" cy="4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95959"/>
                </a:solidFill>
                <a:latin typeface="Calibri"/>
              </a:rPr>
              <a:t>AI-Powered Multi-Camera Vehicle Tracking &amp; Urban Traffic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80000" y="2080000"/>
            <a:ext cx="11232000" cy="4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3B57"/>
                </a:solidFill>
                <a:latin typeface="Calibri"/>
              </a:rPr>
              <a:t>A high-throughput, edge-compatible AI surveillance engine uniting distributed ANPR feeds into continuous spatio-temporal vehicle journeys, real-time BOLO security alerts, and urban mobility intelligence.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480000" y="2560000"/>
            <a:ext cx="11232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70C0"/>
                </a:solidFill>
                <a:latin typeface="Calibri"/>
              </a:rPr>
              <a:t>1. PROPOSED SOLUTION</a:t>
            </a:r>
          </a:p>
        </p:txBody>
      </p:sp>
      <p:sp>
        <p:nvSpPr>
          <p:cNvPr id="15364" name="Rounded Rectangle 15363"/>
          <p:cNvSpPr/>
          <p:nvPr/>
        </p:nvSpPr>
        <p:spPr>
          <a:xfrm>
            <a:off x="480000" y="2860000"/>
            <a:ext cx="2718000" cy="95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950" b="1">
                <a:solidFill>
                  <a:srgbClr val="0070C0"/>
                </a:solidFill>
                <a:latin typeface="Calibri"/>
              </a:rPr>
              <a:t>HIGH-PRECISION ANPR</a:t>
            </a:r>
          </a:p>
          <a:p>
            <a:pPr algn="l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Calibri"/>
              </a:rPr>
              <a:t>Direct RF-DETR/YOLOv8 full-frame detection (97.1% P/R) &amp; sub-80ms edge OCR.</a:t>
            </a:r>
          </a:p>
        </p:txBody>
      </p:sp>
      <p:sp>
        <p:nvSpPr>
          <p:cNvPr id="15365" name="Rounded Rectangle 15364"/>
          <p:cNvSpPr/>
          <p:nvPr/>
        </p:nvSpPr>
        <p:spPr>
          <a:xfrm>
            <a:off x="3318000" y="2860000"/>
            <a:ext cx="2718000" cy="95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950" b="1">
                <a:solidFill>
                  <a:srgbClr val="0070C0"/>
                </a:solidFill>
                <a:latin typeface="Calibri"/>
              </a:rPr>
              <a:t>VEHICLE TRAJECTORY</a:t>
            </a:r>
          </a:p>
          <a:p>
            <a:pPr algn="l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Calibri"/>
              </a:rPr>
              <a:t>Spatio-temporal journey stitching with Haversine speed &amp; &gt;180 km/h anomaly guards.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6156000" y="2860000"/>
            <a:ext cx="2718000" cy="95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950" b="1">
                <a:solidFill>
                  <a:srgbClr val="0070C0"/>
                </a:solidFill>
                <a:latin typeface="Calibri"/>
              </a:rPr>
              <a:t>CITY TRAFFIC INTELLIGENCE</a:t>
            </a:r>
          </a:p>
          <a:p>
            <a:pPr algn="l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Calibri"/>
              </a:rPr>
              <a:t>Real-time density tiers (LOW–SEVERE), OD matrices, route bottlenecks &amp; heatmaps.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8994000" y="2860000"/>
            <a:ext cx="2718000" cy="95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950" b="1">
                <a:solidFill>
                  <a:srgbClr val="0070C0"/>
                </a:solidFill>
                <a:latin typeface="Calibri"/>
              </a:rPr>
              <a:t>REAL-TIME WATCHLIST</a:t>
            </a:r>
          </a:p>
          <a:p>
            <a:pPr algn="l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Calibri"/>
              </a:rPr>
              <a:t>Instant BOLO matching with tiered priority alerts, HUD sirens &amp; incident logs.</a:t>
            </a:r>
          </a:p>
        </p:txBody>
      </p:sp>
      <p:sp>
        <p:nvSpPr>
          <p:cNvPr id="15368" name="TextBox 15367"/>
          <p:cNvSpPr txBox="1"/>
          <p:nvPr/>
        </p:nvSpPr>
        <p:spPr>
          <a:xfrm>
            <a:off x="480000" y="4000000"/>
            <a:ext cx="11232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70C0"/>
                </a:solidFill>
                <a:latin typeface="Calibri"/>
              </a:rPr>
              <a:t>2. HOW IT SOLVES THE PROBLEM</a:t>
            </a:r>
          </a:p>
        </p:txBody>
      </p:sp>
      <p:sp>
        <p:nvSpPr>
          <p:cNvPr id="15369" name="Rounded Rectangle 15368"/>
          <p:cNvSpPr/>
          <p:nvPr/>
        </p:nvSpPr>
        <p:spPr>
          <a:xfrm>
            <a:off x="480000" y="4300000"/>
            <a:ext cx="2450000" cy="7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595959"/>
                </a:solidFill>
              </a:rPr>
              <a:t>CAM 01   CAM 02   CAM 03
Isolated ANPR silos</a:t>
            </a:r>
          </a:p>
        </p:txBody>
      </p:sp>
      <p:cxnSp>
        <p:nvCxnSpPr>
          <p:cNvPr id="15370" name="Connector 15369"/>
          <p:cNvCxnSpPr/>
          <p:nvPr/>
        </p:nvCxnSpPr>
        <p:spPr>
          <a:xfrm>
            <a:off x="2970000" y="4650000"/>
            <a:ext cx="580000" cy="0"/>
          </a:xfrm>
          <a:prstGeom prst="line">
            <a:avLst/>
          </a:prstGeom>
          <a:ln w="317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1" name="Rounded Rectangle 15370"/>
          <p:cNvSpPr/>
          <p:nvPr/>
        </p:nvSpPr>
        <p:spPr>
          <a:xfrm>
            <a:off x="3590000" y="4300000"/>
            <a:ext cx="5672000" cy="7000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1">
                <a:solidFill>
                  <a:srgbClr val="0070C0"/>
                </a:solidFill>
              </a:rPr>
              <a:t>CAM 01/02/03 (WebRTC/RTSP) → CENTRAL AI ENGINE → GIS MAPPING + TRAJECTORY + OD MATRIX + BOLO HUD</a:t>
            </a:r>
          </a:p>
        </p:txBody>
      </p:sp>
      <p:sp>
        <p:nvSpPr>
          <p:cNvPr id="15372" name="TextBox 15371"/>
          <p:cNvSpPr txBox="1"/>
          <p:nvPr/>
        </p:nvSpPr>
        <p:spPr>
          <a:xfrm>
            <a:off x="480000" y="5050000"/>
            <a:ext cx="11232000" cy="2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From isolated video silos to real-time, city-wide actionable traffic intelligence.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480000" y="5330000"/>
            <a:ext cx="11232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70C0"/>
                </a:solidFill>
                <a:latin typeface="Calibri"/>
              </a:rPr>
              <a:t>3. INNOVATION / UNIQUENESS</a:t>
            </a:r>
          </a:p>
        </p:txBody>
      </p:sp>
      <p:sp>
        <p:nvSpPr>
          <p:cNvPr id="15374" name="TextBox 15373"/>
          <p:cNvSpPr txBox="1"/>
          <p:nvPr/>
        </p:nvSpPr>
        <p:spPr>
          <a:xfrm>
            <a:off x="480000" y="5600000"/>
            <a:ext cx="55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Adaptive dual-OCR ensemble (FastPlate v2 + PP-OCRv4)</a:t>
            </a:r>
          </a:p>
        </p:txBody>
      </p:sp>
      <p:sp>
        <p:nvSpPr>
          <p:cNvPr id="15375" name="TextBox 15374"/>
          <p:cNvSpPr txBox="1"/>
          <p:nvPr/>
        </p:nvSpPr>
        <p:spPr>
          <a:xfrm>
            <a:off x="480000" y="5790000"/>
            <a:ext cx="55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Zero-hallucination MoRTH validator (36 States + BH)</a:t>
            </a:r>
          </a:p>
        </p:txBody>
      </p:sp>
      <p:sp>
        <p:nvSpPr>
          <p:cNvPr id="15376" name="TextBox 15375"/>
          <p:cNvSpPr txBox="1"/>
          <p:nvPr/>
        </p:nvSpPr>
        <p:spPr>
          <a:xfrm>
            <a:off x="480000" y="5980000"/>
            <a:ext cx="55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Multi-frame temporal consensus &amp; sharpness voting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480000" y="6170000"/>
            <a:ext cx="55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Cross-camera spatio-temporal trajectory tracking</a:t>
            </a:r>
          </a:p>
        </p:txBody>
      </p:sp>
      <p:sp>
        <p:nvSpPr>
          <p:cNvPr id="15378" name="TextBox 15377"/>
          <p:cNvSpPr txBox="1"/>
          <p:nvPr/>
        </p:nvSpPr>
        <p:spPr>
          <a:xfrm>
            <a:off x="6096000" y="5600000"/>
            <a:ext cx="55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Interactive GIS traffic heatmaps &amp; corridor flows</a:t>
            </a:r>
          </a:p>
        </p:txBody>
      </p:sp>
      <p:sp>
        <p:nvSpPr>
          <p:cNvPr id="15379" name="TextBox 15378"/>
          <p:cNvSpPr txBox="1"/>
          <p:nvPr/>
        </p:nvSpPr>
        <p:spPr>
          <a:xfrm>
            <a:off x="6096000" y="5790000"/>
            <a:ext cx="55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Real-time multi-tier BOLO &amp; audio HUD siren alerts</a:t>
            </a:r>
          </a:p>
        </p:txBody>
      </p:sp>
      <p:sp>
        <p:nvSpPr>
          <p:cNvPr id="15380" name="TextBox 15379"/>
          <p:cNvSpPr txBox="1"/>
          <p:nvPr/>
        </p:nvSpPr>
        <p:spPr>
          <a:xfrm>
            <a:off x="6096000" y="5980000"/>
            <a:ext cx="55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CPU-optimized edge inference (sub-80ms total latency)</a:t>
            </a:r>
          </a:p>
        </p:txBody>
      </p:sp>
      <p:sp>
        <p:nvSpPr>
          <p:cNvPr id="15381" name="TextBox 15380"/>
          <p:cNvSpPr txBox="1"/>
          <p:nvPr/>
        </p:nvSpPr>
        <p:spPr>
          <a:xfrm>
            <a:off x="6096000" y="6170000"/>
            <a:ext cx="5556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Mobile smartphone edge nodes via dynamic QR pairing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Rounded Rectangle 17409"/>
          <p:cNvSpPr/>
          <p:nvPr/>
        </p:nvSpPr>
        <p:spPr>
          <a:xfrm>
            <a:off x="400000" y="2060000"/>
            <a:ext cx="1588857" cy="7800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750" b="1">
                <a:solidFill>
                  <a:srgbClr val="1F3B57"/>
                </a:solidFill>
              </a:rPr>
              <a:t>CAMERA NETWORK</a:t>
            </a:r>
          </a:p>
          <a:p>
            <a:pPr algn="ctr"/>
            <a:r>
              <a:rPr sz="650" b="0">
                <a:solidFill>
                  <a:srgbClr val="1F3B57"/>
                </a:solidFill>
              </a:rPr>
              <a:t>(Mobile / IP / RTSP)</a:t>
            </a:r>
          </a:p>
        </p:txBody>
      </p:sp>
      <p:cxnSp>
        <p:nvCxnSpPr>
          <p:cNvPr id="17411" name="Connector 17410"/>
          <p:cNvCxnSpPr/>
          <p:nvPr/>
        </p:nvCxnSpPr>
        <p:spPr>
          <a:xfrm>
            <a:off x="1988857" y="2450000"/>
            <a:ext cx="45000" cy="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2" name="Rounded Rectangle 17411"/>
          <p:cNvSpPr/>
          <p:nvPr/>
        </p:nvSpPr>
        <p:spPr>
          <a:xfrm>
            <a:off x="2033857" y="2060000"/>
            <a:ext cx="1588857" cy="78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750" b="1">
                <a:solidFill>
                  <a:srgbClr val="1F3B57"/>
                </a:solidFill>
              </a:rPr>
              <a:t>WEBRTC VIDEO</a:t>
            </a:r>
          </a:p>
          <a:p>
            <a:pPr algn="ctr"/>
            <a:r>
              <a:rPr sz="650" b="0">
                <a:solidFill>
                  <a:srgbClr val="1F3B57"/>
                </a:solidFill>
              </a:rPr>
              <a:t>INGESTION</a:t>
            </a:r>
          </a:p>
        </p:txBody>
      </p:sp>
      <p:cxnSp>
        <p:nvCxnSpPr>
          <p:cNvPr id="17413" name="Connector 17412"/>
          <p:cNvCxnSpPr/>
          <p:nvPr/>
        </p:nvCxnSpPr>
        <p:spPr>
          <a:xfrm>
            <a:off x="3622714" y="2450000"/>
            <a:ext cx="45000" cy="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3667714" y="2060000"/>
            <a:ext cx="1588857" cy="7800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750" b="1">
                <a:solidFill>
                  <a:srgbClr val="1F3B57"/>
                </a:solidFill>
              </a:rPr>
              <a:t>PLATE DETECTION</a:t>
            </a:r>
          </a:p>
          <a:p>
            <a:pPr algn="ctr"/>
            <a:r>
              <a:rPr sz="650" b="0">
                <a:solidFill>
                  <a:srgbClr val="1F3B57"/>
                </a:solidFill>
              </a:rPr>
              <a:t>RF-DETR / YOLOv8</a:t>
            </a:r>
          </a:p>
        </p:txBody>
      </p:sp>
      <p:cxnSp>
        <p:nvCxnSpPr>
          <p:cNvPr id="17415" name="Connector 17414"/>
          <p:cNvCxnSpPr/>
          <p:nvPr/>
        </p:nvCxnSpPr>
        <p:spPr>
          <a:xfrm>
            <a:off x="5256571" y="2450000"/>
            <a:ext cx="45000" cy="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5301571" y="2060000"/>
            <a:ext cx="1588857" cy="78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750" b="1">
                <a:solidFill>
                  <a:srgbClr val="1F3B57"/>
                </a:solidFill>
              </a:rPr>
              <a:t>CROP</a:t>
            </a:r>
          </a:p>
          <a:p>
            <a:pPr algn="ctr"/>
            <a:r>
              <a:rPr sz="650" b="0">
                <a:solidFill>
                  <a:srgbClr val="1F3B57"/>
                </a:solidFill>
              </a:rPr>
              <a:t>RECTIFICATION</a:t>
            </a:r>
          </a:p>
        </p:txBody>
      </p:sp>
      <p:cxnSp>
        <p:nvCxnSpPr>
          <p:cNvPr id="17417" name="Connector 17416"/>
          <p:cNvCxnSpPr/>
          <p:nvPr/>
        </p:nvCxnSpPr>
        <p:spPr>
          <a:xfrm>
            <a:off x="6890428" y="2450000"/>
            <a:ext cx="45000" cy="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6935428" y="2060000"/>
            <a:ext cx="1588857" cy="7800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750" b="1">
                <a:solidFill>
                  <a:srgbClr val="1F3B57"/>
                </a:solidFill>
              </a:rPr>
              <a:t>ADAPTIVE OCR</a:t>
            </a:r>
          </a:p>
          <a:p>
            <a:pPr algn="ctr"/>
            <a:r>
              <a:rPr sz="650" b="0">
                <a:solidFill>
                  <a:srgbClr val="1F3B57"/>
                </a:solidFill>
              </a:rPr>
              <a:t>FastPlate v2 + PP-OCR</a:t>
            </a:r>
          </a:p>
        </p:txBody>
      </p:sp>
      <p:cxnSp>
        <p:nvCxnSpPr>
          <p:cNvPr id="17419" name="Connector 17418"/>
          <p:cNvCxnSpPr/>
          <p:nvPr/>
        </p:nvCxnSpPr>
        <p:spPr>
          <a:xfrm>
            <a:off x="8524285" y="2450000"/>
            <a:ext cx="45000" cy="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0" name="Rounded Rectangle 17419"/>
          <p:cNvSpPr/>
          <p:nvPr/>
        </p:nvSpPr>
        <p:spPr>
          <a:xfrm>
            <a:off x="8569285" y="2060000"/>
            <a:ext cx="1588857" cy="780000"/>
          </a:xfrm>
          <a:prstGeom prst="roundRect">
            <a:avLst>
              <a:gd name="adj" fmla="val 10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750" b="1">
                <a:solidFill>
                  <a:srgbClr val="1F3B57"/>
                </a:solidFill>
              </a:rPr>
              <a:t>INDIAN REG.</a:t>
            </a:r>
          </a:p>
          <a:p>
            <a:pPr algn="ctr"/>
            <a:r>
              <a:rPr sz="650" b="0">
                <a:solidFill>
                  <a:srgbClr val="1F3B57"/>
                </a:solidFill>
              </a:rPr>
              <a:t>VALIDATOR</a:t>
            </a:r>
          </a:p>
        </p:txBody>
      </p:sp>
      <p:cxnSp>
        <p:nvCxnSpPr>
          <p:cNvPr id="17421" name="Connector 17420"/>
          <p:cNvCxnSpPr/>
          <p:nvPr/>
        </p:nvCxnSpPr>
        <p:spPr>
          <a:xfrm>
            <a:off x="10158142" y="2450000"/>
            <a:ext cx="45000" cy="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2" name="Rounded Rectangle 17421"/>
          <p:cNvSpPr/>
          <p:nvPr/>
        </p:nvSpPr>
        <p:spPr>
          <a:xfrm>
            <a:off x="10203142" y="2060000"/>
            <a:ext cx="1588857" cy="7800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0000" rIns="30000"/>
          <a:lstStyle/>
          <a:p>
            <a:pPr algn="ctr"/>
            <a:r>
              <a:rPr sz="750" b="1">
                <a:solidFill>
                  <a:srgbClr val="1F3B57"/>
                </a:solidFill>
              </a:rPr>
              <a:t>TEMPORAL</a:t>
            </a:r>
          </a:p>
          <a:p>
            <a:pPr algn="ctr"/>
            <a:r>
              <a:rPr sz="650" b="0">
                <a:solidFill>
                  <a:srgbClr val="1F3B57"/>
                </a:solidFill>
              </a:rPr>
              <a:t>CONSENSUS</a:t>
            </a:r>
          </a:p>
        </p:txBody>
      </p:sp>
      <p:cxnSp>
        <p:nvCxnSpPr>
          <p:cNvPr id="17423" name="Connector 17422"/>
          <p:cNvCxnSpPr/>
          <p:nvPr/>
        </p:nvCxnSpPr>
        <p:spPr>
          <a:xfrm>
            <a:off x="6096000" y="2840000"/>
            <a:ext cx="0" cy="260000"/>
          </a:xfrm>
          <a:prstGeom prst="line">
            <a:avLst/>
          </a:prstGeom>
          <a:ln w="2540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4" name="Rounded Rectangle 17423"/>
          <p:cNvSpPr/>
          <p:nvPr/>
        </p:nvSpPr>
        <p:spPr>
          <a:xfrm>
            <a:off x="3246000" y="3140000"/>
            <a:ext cx="2650000" cy="6200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B57"/>
                </a:solidFill>
              </a:rPr>
              <a:t>TRAJECTORY ENGINE
→ GIS Route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296000" y="3140000"/>
            <a:ext cx="2650000" cy="62000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B57"/>
                </a:solidFill>
              </a:rPr>
              <a:t>WATCHLIST ENGINE
→ Real-time Alert</a:t>
            </a:r>
          </a:p>
        </p:txBody>
      </p:sp>
      <p:cxnSp>
        <p:nvCxnSpPr>
          <p:cNvPr id="17426" name="Connector 17425"/>
          <p:cNvCxnSpPr/>
          <p:nvPr/>
        </p:nvCxnSpPr>
        <p:spPr>
          <a:xfrm>
            <a:off x="4571000" y="3760000"/>
            <a:ext cx="1525000" cy="22000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7" name="Connector 17426"/>
          <p:cNvCxnSpPr/>
          <p:nvPr/>
        </p:nvCxnSpPr>
        <p:spPr>
          <a:xfrm flipH="1">
            <a:off x="6096000" y="3760000"/>
            <a:ext cx="1525000" cy="220000"/>
          </a:xfrm>
          <a:prstGeom prst="line">
            <a:avLst/>
          </a:prstGeom>
          <a:ln w="19050">
            <a:solidFill>
              <a:srgbClr val="0070C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8" name="Rounded Rectangle 17427"/>
          <p:cNvSpPr/>
          <p:nvPr/>
        </p:nvSpPr>
        <p:spPr>
          <a:xfrm>
            <a:off x="3996000" y="4000000"/>
            <a:ext cx="4200000" cy="48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FFFFFF"/>
                </a:solidFill>
              </a:rPr>
              <a:t>TRAFFIC ANALYTICS — Density · Speed · OD Matrix · Route Flow · Congestion · Heatmaps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8546000" y="3080000"/>
            <a:ext cx="3246000" cy="2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70C0"/>
                </a:solidFill>
                <a:latin typeface="Calibri"/>
              </a:rPr>
              <a:t>TECH STACK</a:t>
            </a:r>
          </a:p>
        </p:txBody>
      </p:sp>
      <p:sp>
        <p:nvSpPr>
          <p:cNvPr id="17430" name="TextBox 17429"/>
          <p:cNvSpPr txBox="1"/>
          <p:nvPr/>
        </p:nvSpPr>
        <p:spPr>
          <a:xfrm>
            <a:off x="8546000" y="3290000"/>
            <a:ext cx="3246000" cy="1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95959"/>
                </a:solidFill>
                <a:latin typeface="Calibri"/>
              </a:rPr>
              <a:t>• Python 3.12 / FastAPI (Port 5001)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8546000" y="3432000"/>
            <a:ext cx="3246000" cy="1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95959"/>
                </a:solidFill>
                <a:latin typeface="Calibri"/>
              </a:rPr>
              <a:t>• Node.js / Express / Socket.io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8546000" y="3574000"/>
            <a:ext cx="3246000" cy="1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95959"/>
                </a:solidFill>
                <a:latin typeface="Calibri"/>
              </a:rPr>
              <a:t>• WebRTC Low-Latency Streaming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8546000" y="3716000"/>
            <a:ext cx="3246000" cy="1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95959"/>
                </a:solidFill>
                <a:latin typeface="Calibri"/>
              </a:rPr>
              <a:t>• RF-DETR Small + YOLOv8 ONNX</a:t>
            </a:r>
          </a:p>
        </p:txBody>
      </p:sp>
      <p:sp>
        <p:nvSpPr>
          <p:cNvPr id="17434" name="TextBox 17433"/>
          <p:cNvSpPr txBox="1"/>
          <p:nvPr/>
        </p:nvSpPr>
        <p:spPr>
          <a:xfrm>
            <a:off x="8546000" y="3858000"/>
            <a:ext cx="3246000" cy="1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95959"/>
                </a:solidFill>
                <a:latin typeface="Calibri"/>
              </a:rPr>
              <a:t>• FastPlateOCR v2 (CCT-S Transformer)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8546000" y="4000000"/>
            <a:ext cx="3246000" cy="1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95959"/>
                </a:solidFill>
                <a:latin typeface="Calibri"/>
              </a:rPr>
              <a:t>• RapidOCR (PP-OCRv4 ONNX CPU)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8546000" y="4142000"/>
            <a:ext cx="3246000" cy="1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95959"/>
                </a:solidFill>
                <a:latin typeface="Calibri"/>
              </a:rPr>
              <a:t>• Leaflet.js &amp; Leaflet-Heat GIS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8546000" y="4284000"/>
            <a:ext cx="3246000" cy="1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0">
                <a:solidFill>
                  <a:srgbClr val="595959"/>
                </a:solidFill>
                <a:latin typeface="Calibri"/>
              </a:rPr>
              <a:t>• Chart.js Mobility Dashboards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400000" y="4620000"/>
            <a:ext cx="2773000" cy="56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E7D32"/>
                </a:solidFill>
              </a:rPr>
              <a:t>97.14%</a:t>
            </a:r>
          </a:p>
          <a:p>
            <a:pPr algn="ctr"/>
            <a:r>
              <a:rPr sz="700">
                <a:solidFill>
                  <a:srgbClr val="595959"/>
                </a:solidFill>
              </a:rPr>
              <a:t>Detector Precision (0% FPR)</a:t>
            </a:r>
          </a:p>
        </p:txBody>
      </p:sp>
      <p:sp>
        <p:nvSpPr>
          <p:cNvPr id="17439" name="Rounded Rectangle 17438"/>
          <p:cNvSpPr/>
          <p:nvPr/>
        </p:nvSpPr>
        <p:spPr>
          <a:xfrm>
            <a:off x="3273000" y="4620000"/>
            <a:ext cx="2773000" cy="56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E7D32"/>
                </a:solidFill>
              </a:rPr>
              <a:t>97.14%</a:t>
            </a:r>
          </a:p>
          <a:p>
            <a:pPr algn="ctr"/>
            <a:r>
              <a:rPr sz="700">
                <a:solidFill>
                  <a:srgbClr val="595959"/>
                </a:solidFill>
              </a:rPr>
              <a:t>Detector Recall (Negative Gated)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6146000" y="4620000"/>
            <a:ext cx="2773000" cy="56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79646"/>
                </a:solidFill>
              </a:rPr>
              <a:t>48.68%</a:t>
            </a:r>
          </a:p>
          <a:p>
            <a:pPr algn="ctr"/>
            <a:r>
              <a:rPr sz="700">
                <a:solidFill>
                  <a:srgbClr val="595959"/>
                </a:solidFill>
              </a:rPr>
              <a:t>Adaptive OCR (76.4% Char Acc)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9019000" y="4620000"/>
            <a:ext cx="2773000" cy="56000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79646"/>
                </a:solidFill>
              </a:rPr>
              <a:t>51.11%</a:t>
            </a:r>
          </a:p>
          <a:p>
            <a:pPr algn="ctr"/>
            <a:r>
              <a:rPr sz="700">
                <a:solidFill>
                  <a:srgbClr val="595959"/>
                </a:solidFill>
              </a:rPr>
              <a:t>Temporal Consensus (+7.7% Gain)</a:t>
            </a:r>
          </a:p>
        </p:txBody>
      </p:sp>
      <p:sp>
        <p:nvSpPr>
          <p:cNvPr id="17442" name="TextBox 17441"/>
          <p:cNvSpPr txBox="1"/>
          <p:nvPr/>
        </p:nvSpPr>
        <p:spPr>
          <a:xfrm>
            <a:off x="400000" y="5220000"/>
            <a:ext cx="11392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B03A2E"/>
                </a:solidFill>
                <a:latin typeface="Calibri"/>
              </a:rPr>
              <a:t>Empirical validation on frozen 228-crop Indian benchmark: 48.68% exact match, 76.40% character accuracy, 51.11% temporal consensus; 0% false positives on negative controls.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00000" y="2080000"/>
            <a:ext cx="11392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70C0"/>
                </a:solidFill>
                <a:latin typeface="Calibri"/>
              </a:rPr>
              <a:t>FEASIBILITY</a:t>
            </a:r>
          </a:p>
        </p:txBody>
      </p:sp>
      <p:sp>
        <p:nvSpPr>
          <p:cNvPr id="17411" name="Rounded Rectangle 17410"/>
          <p:cNvSpPr/>
          <p:nvPr/>
        </p:nvSpPr>
        <p:spPr>
          <a:xfrm>
            <a:off x="400000" y="2340000"/>
            <a:ext cx="2773000" cy="82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850" b="1">
                <a:solidFill>
                  <a:srgbClr val="0070C0"/>
                </a:solidFill>
                <a:latin typeface="Calibri"/>
              </a:rPr>
              <a:t>WORKING PROTOTYPE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595959"/>
                </a:solidFill>
                <a:latin typeface="Calibri"/>
              </a:rPr>
              <a:t>Production-ready full-stack platform: FastAPI vision engine + Node.js WebRTC hub + 5-tab SPA Command Center.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3273000" y="2340000"/>
            <a:ext cx="2773000" cy="82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850" b="1">
                <a:solidFill>
                  <a:srgbClr val="0070C0"/>
                </a:solidFill>
                <a:latin typeface="Calibri"/>
              </a:rPr>
              <a:t>EDGE COMPATIBLE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595959"/>
                </a:solidFill>
                <a:latin typeface="Calibri"/>
              </a:rPr>
              <a:t>CPU-first inference: sub-80ms OCR and sub-100ms detection without mandatory high-end GPUs.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46000" y="2340000"/>
            <a:ext cx="2773000" cy="82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850" b="1">
                <a:solidFill>
                  <a:srgbClr val="0070C0"/>
                </a:solidFill>
                <a:latin typeface="Calibri"/>
              </a:rPr>
              <a:t>EXISTING CAMERA SUPPORT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595959"/>
                </a:solidFill>
                <a:latin typeface="Calibri"/>
              </a:rPr>
              <a:t>Works natively with municipal CCTV, IP RTSP, USB webcams, and mobile smartphones via QR pairing.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9019000" y="2340000"/>
            <a:ext cx="2773000" cy="82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850" b="1">
                <a:solidFill>
                  <a:srgbClr val="0070C0"/>
                </a:solidFill>
                <a:latin typeface="Calibri"/>
              </a:rPr>
              <a:t>MODULAR ARCHITECTURE</a:t>
            </a:r>
          </a:p>
          <a:p>
            <a:pPr algn="l">
              <a:spcBef>
                <a:spcPts val="200"/>
              </a:spcBef>
            </a:pPr>
            <a:r>
              <a:rPr sz="750" b="0">
                <a:solidFill>
                  <a:srgbClr val="595959"/>
                </a:solidFill>
                <a:latin typeface="Calibri"/>
              </a:rPr>
              <a:t>Decoupled microservices for ANPR ingestion, trajectory reconstruction, macro analytics, and BOLO sirens.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00000" y="3300000"/>
            <a:ext cx="11392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70C0"/>
                </a:solidFill>
                <a:latin typeface="Calibri"/>
              </a:rPr>
              <a:t>VERIFIED MODULES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400000" y="3560000"/>
            <a:ext cx="1832000" cy="56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● 97.14% P/R</a:t>
            </a:r>
          </a:p>
          <a:p>
            <a:pPr algn="ctr"/>
            <a:r>
              <a:rPr sz="680">
                <a:solidFill>
                  <a:srgbClr val="595959"/>
                </a:solidFill>
              </a:rPr>
              <a:t>Plate Detector (0% FPR)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2312000" y="3560000"/>
            <a:ext cx="1832000" cy="56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● 13/13 PASS</a:t>
            </a:r>
          </a:p>
          <a:p>
            <a:pPr algn="ctr"/>
            <a:r>
              <a:rPr sz="680">
                <a:solidFill>
                  <a:srgbClr val="595959"/>
                </a:solidFill>
              </a:rPr>
              <a:t>Trajectory Engine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4224000" y="3560000"/>
            <a:ext cx="1832000" cy="56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● 18/18 PASS</a:t>
            </a:r>
          </a:p>
          <a:p>
            <a:pPr algn="ctr"/>
            <a:r>
              <a:rPr sz="680">
                <a:solidFill>
                  <a:srgbClr val="595959"/>
                </a:solidFill>
              </a:rPr>
              <a:t>Traffic Analytics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36000" y="3560000"/>
            <a:ext cx="1832000" cy="56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● 12/12 PASS</a:t>
            </a:r>
          </a:p>
          <a:p>
            <a:pPr algn="ctr"/>
            <a:r>
              <a:rPr sz="680">
                <a:solidFill>
                  <a:srgbClr val="595959"/>
                </a:solidFill>
              </a:rPr>
              <a:t>GIS &amp; Heatmaps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8048000" y="3560000"/>
            <a:ext cx="1832000" cy="56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● 15/15 PASS</a:t>
            </a:r>
          </a:p>
          <a:p>
            <a:pPr algn="ctr"/>
            <a:r>
              <a:rPr sz="680">
                <a:solidFill>
                  <a:srgbClr val="595959"/>
                </a:solidFill>
              </a:rPr>
              <a:t>ANPR Service API</a:t>
            </a:r>
          </a:p>
        </p:txBody>
      </p:sp>
      <p:sp>
        <p:nvSpPr>
          <p:cNvPr id="17421" name="Rounded Rectangle 17420"/>
          <p:cNvSpPr/>
          <p:nvPr/>
        </p:nvSpPr>
        <p:spPr>
          <a:xfrm>
            <a:off x="9960000" y="3560000"/>
            <a:ext cx="1832000" cy="56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2E7D32"/>
                </a:solidFill>
              </a:rPr>
              <a:t>● 100% PASS</a:t>
            </a:r>
          </a:p>
          <a:p>
            <a:pPr algn="ctr"/>
            <a:r>
              <a:rPr sz="680">
                <a:solidFill>
                  <a:srgbClr val="595959"/>
                </a:solidFill>
              </a:rPr>
              <a:t>Anti-Hallucination Gate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00000" y="4300000"/>
            <a:ext cx="11392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70C0"/>
                </a:solidFill>
                <a:latin typeface="Calibri"/>
              </a:rPr>
              <a:t>CHALLENGES  →  MITIGATION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400000" y="4560000"/>
            <a:ext cx="11392000" cy="276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/>
          <a:lstStyle/>
          <a:p>
            <a:pPr algn="l"/>
            <a:r>
              <a:rPr sz="800" b="1">
                <a:solidFill>
                  <a:srgbClr val="B03A2E"/>
                </a:solidFill>
              </a:rPr>
              <a:t>Low-res / blurred plates</a:t>
            </a:r>
            <a:r>
              <a:rPr sz="800" b="0">
                <a:solidFill>
                  <a:srgbClr val="1F3B57"/>
                </a:solidFill>
              </a:rPr>
              <a:t>   →   Lanczos sharpening + 4-point homography deskew + 10% edge padding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400000" y="4848000"/>
            <a:ext cx="11392000" cy="276000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/>
          <a:lstStyle/>
          <a:p>
            <a:pPr algn="l"/>
            <a:r>
              <a:rPr sz="800" b="1">
                <a:solidFill>
                  <a:srgbClr val="B03A2E"/>
                </a:solidFill>
              </a:rPr>
              <a:t>OCR character errors</a:t>
            </a:r>
            <a:r>
              <a:rPr sz="800" b="0">
                <a:solidFill>
                  <a:srgbClr val="1F3B57"/>
                </a:solidFill>
              </a:rPr>
              <a:t>   →   Adaptive FastPlateOCR v2 + PP-OCRv4 fallback + strict MoRTH Rule 50 syntax validation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400000" y="5136000"/>
            <a:ext cx="11392000" cy="276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/>
          <a:lstStyle/>
          <a:p>
            <a:pPr algn="l"/>
            <a:r>
              <a:rPr sz="800" b="1">
                <a:solidFill>
                  <a:srgbClr val="B03A2E"/>
                </a:solidFill>
              </a:rPr>
              <a:t>Night / glare</a:t>
            </a:r>
            <a:r>
              <a:rPr sz="800" b="0">
                <a:solidFill>
                  <a:srgbClr val="1F3B57"/>
                </a:solidFill>
              </a:rPr>
              <a:t>   →   Laplacian sharpness keyframe selection (&gt;60.0) + multi-frame tracklet voting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400000" y="5424000"/>
            <a:ext cx="11392000" cy="276000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/>
          <a:lstStyle/>
          <a:p>
            <a:pPr algn="l"/>
            <a:r>
              <a:rPr sz="800" b="1">
                <a:solidFill>
                  <a:srgbClr val="B03A2E"/>
                </a:solidFill>
              </a:rPr>
              <a:t>Multi-camera load</a:t>
            </a:r>
            <a:r>
              <a:rPr sz="800" b="0">
                <a:solidFill>
                  <a:srgbClr val="1F3B57"/>
                </a:solidFill>
              </a:rPr>
              <a:t>   →   MultiCameraQueueManager with semaphore concurrency (N=2) &amp; depth-1 drop guards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400000" y="5712000"/>
            <a:ext cx="11392000" cy="27600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/>
          <a:lstStyle/>
          <a:p>
            <a:pPr algn="l"/>
            <a:r>
              <a:rPr sz="800" b="1">
                <a:solidFill>
                  <a:srgbClr val="B03A2E"/>
                </a:solidFill>
              </a:rPr>
              <a:t>False plate hallucination</a:t>
            </a:r>
            <a:r>
              <a:rPr sz="800" b="0">
                <a:solidFill>
                  <a:srgbClr val="1F3B57"/>
                </a:solidFill>
              </a:rPr>
              <a:t>   →   Zero-mutation validator policy + negative-control clutter rejection test suite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400000" y="6000000"/>
            <a:ext cx="11392000" cy="276000"/>
          </a:xfrm>
          <a:prstGeom prst="roundRect">
            <a:avLst>
              <a:gd name="adj" fmla="val 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0000"/>
          <a:lstStyle/>
          <a:p>
            <a:pPr algn="l"/>
            <a:r>
              <a:rPr sz="800" b="1">
                <a:solidFill>
                  <a:srgbClr val="B03A2E"/>
                </a:solidFill>
              </a:rPr>
              <a:t>City-scale deployment</a:t>
            </a:r>
            <a:r>
              <a:rPr sz="800" b="0">
                <a:solidFill>
                  <a:srgbClr val="1F3B57"/>
                </a:solidFill>
              </a:rPr>
              <a:t>   →   Modular async microservices; TensorRT/DirectML ready for 10+ camera clusters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00000" y="2080000"/>
            <a:ext cx="11392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0070C0"/>
                </a:solidFill>
                <a:latin typeface="Calibri"/>
              </a:rPr>
              <a:t>ONE PLATFORM  →  FOUR OUTCOMES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00000" y="2380000"/>
            <a:ext cx="11392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SECURITY   ·   TRAFFIC FLOW   ·   CITY PLANNING   ·   REAL-TIME INTELLIGENCE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400000" y="2760000"/>
            <a:ext cx="5646000" cy="78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900" b="1">
                <a:solidFill>
                  <a:srgbClr val="0070C0"/>
                </a:solidFill>
                <a:latin typeface="Calibri"/>
              </a:rPr>
              <a:t>TRAFFIC AUTHORITIES</a:t>
            </a:r>
          </a:p>
          <a:p>
            <a:pPr algn="l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Calibri"/>
              </a:rPr>
              <a:t>Centralized multi-cam monitoring • Dynamic congestion factor alerts • Live route bottleneck heatmaps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6146000" y="2760000"/>
            <a:ext cx="5646000" cy="78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900" b="1">
                <a:solidFill>
                  <a:srgbClr val="0070C0"/>
                </a:solidFill>
                <a:latin typeface="Calibri"/>
              </a:rPr>
              <a:t>LAW ENFORCEMENT / SECURITY</a:t>
            </a:r>
          </a:p>
          <a:p>
            <a:pPr algn="l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Calibri"/>
              </a:rPr>
              <a:t>Instant BOLO watchlist match • Cross-camera suspect trajectory tracking • Real-time HUD siren alerts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400000" y="3630000"/>
            <a:ext cx="5646000" cy="78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900" b="1">
                <a:solidFill>
                  <a:srgbClr val="0070C0"/>
                </a:solidFill>
                <a:latin typeface="Calibri"/>
              </a:rPr>
              <a:t>CITY PLANNERS</a:t>
            </a:r>
          </a:p>
          <a:p>
            <a:pPr algn="l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Calibri"/>
              </a:rPr>
              <a:t>Origin-Destination (OD) matrices • Hourly corridor speed trends • Vehicle class distributions</a:t>
            </a:r>
          </a:p>
        </p:txBody>
      </p:sp>
      <p:sp>
        <p:nvSpPr>
          <p:cNvPr id="17415" name="Rounded Rectangle 17414"/>
          <p:cNvSpPr/>
          <p:nvPr/>
        </p:nvSpPr>
        <p:spPr>
          <a:xfrm>
            <a:off x="6146000" y="3630000"/>
            <a:ext cx="5646000" cy="78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900" b="1">
                <a:solidFill>
                  <a:srgbClr val="0070C0"/>
                </a:solidFill>
                <a:latin typeface="Calibri"/>
              </a:rPr>
              <a:t>COMMUTERS / PUBLIC</a:t>
            </a:r>
          </a:p>
          <a:p>
            <a:pPr algn="l">
              <a:spcBef>
                <a:spcPts val="200"/>
              </a:spcBef>
            </a:pPr>
            <a:r>
              <a:rPr sz="800" b="0">
                <a:solidFill>
                  <a:srgbClr val="595959"/>
                </a:solidFill>
                <a:latin typeface="Calibri"/>
              </a:rPr>
              <a:t>Reduced intersection congestion • Faster emergency incident dispatch • Optimized traffic signal timing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00000" y="4520000"/>
            <a:ext cx="11392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070C0"/>
                </a:solidFill>
                <a:latin typeface="Calibri"/>
              </a:rPr>
              <a:t>IMPACT AREAS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400000" y="4780000"/>
            <a:ext cx="2773000" cy="56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850" b="1">
                <a:solidFill>
                  <a:srgbClr val="F79646"/>
                </a:solidFill>
                <a:latin typeface="Calibri"/>
              </a:rPr>
              <a:t>SOCIAL &amp; SAFETY</a:t>
            </a:r>
          </a:p>
          <a:p>
            <a:pPr algn="l">
              <a:spcBef>
                <a:spcPts val="200"/>
              </a:spcBef>
            </a:pPr>
            <a:r>
              <a:rPr sz="720" b="0">
                <a:solidFill>
                  <a:srgbClr val="595959"/>
                </a:solidFill>
                <a:latin typeface="Calibri"/>
              </a:rPr>
              <a:t>Rapid detection of stolen/wanted vehicles and real-time monitoring of sensitive civic zones.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273000" y="4780000"/>
            <a:ext cx="2773000" cy="56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850" b="1">
                <a:solidFill>
                  <a:srgbClr val="F79646"/>
                </a:solidFill>
                <a:latin typeface="Calibri"/>
              </a:rPr>
              <a:t>ECONOMIC &amp; ROI</a:t>
            </a:r>
          </a:p>
          <a:p>
            <a:pPr algn="l">
              <a:spcBef>
                <a:spcPts val="200"/>
              </a:spcBef>
            </a:pPr>
            <a:r>
              <a:rPr sz="720" b="0">
                <a:solidFill>
                  <a:srgbClr val="595959"/>
                </a:solidFill>
                <a:latin typeface="Calibri"/>
              </a:rPr>
              <a:t>Maximizes existing municipal camera infrastructure; zero requirement for costly GPU retrofits.</a:t>
            </a:r>
          </a:p>
        </p:txBody>
      </p:sp>
      <p:sp>
        <p:nvSpPr>
          <p:cNvPr id="17419" name="Rounded Rectangle 17418"/>
          <p:cNvSpPr/>
          <p:nvPr/>
        </p:nvSpPr>
        <p:spPr>
          <a:xfrm>
            <a:off x="6146000" y="4780000"/>
            <a:ext cx="2773000" cy="56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850" b="1">
                <a:solidFill>
                  <a:srgbClr val="F79646"/>
                </a:solidFill>
                <a:latin typeface="Calibri"/>
              </a:rPr>
              <a:t>ENVIRONMENTAL</a:t>
            </a:r>
          </a:p>
          <a:p>
            <a:pPr algn="l">
              <a:spcBef>
                <a:spcPts val="200"/>
              </a:spcBef>
            </a:pPr>
            <a:r>
              <a:rPr sz="720" b="0">
                <a:solidFill>
                  <a:srgbClr val="595959"/>
                </a:solidFill>
                <a:latin typeface="Calibri"/>
              </a:rPr>
              <a:t>Proactive congestion relief significantly minimizes idle vehicle emissions and fuel waste.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9019000" y="4780000"/>
            <a:ext cx="2773000" cy="560000"/>
          </a:xfrm>
          <a:prstGeom prst="roundRect">
            <a:avLst>
              <a:gd name="adj" fmla="val 6000"/>
            </a:avLst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90000" rIns="90000" tIns="60000" bIns="60000"/>
          <a:lstStyle/>
          <a:p>
            <a:pPr algn="l"/>
            <a:r>
              <a:rPr sz="850" b="1">
                <a:solidFill>
                  <a:srgbClr val="F79646"/>
                </a:solidFill>
                <a:latin typeface="Calibri"/>
              </a:rPr>
              <a:t>HIGH SCALABILITY</a:t>
            </a:r>
          </a:p>
          <a:p>
            <a:pPr algn="l">
              <a:spcBef>
                <a:spcPts val="200"/>
              </a:spcBef>
            </a:pPr>
            <a:r>
              <a:rPr sz="720" b="0">
                <a:solidFill>
                  <a:srgbClr val="595959"/>
                </a:solidFill>
                <a:latin typeface="Calibri"/>
              </a:rPr>
              <a:t>Horizontally scalable edge architecture allows adding camera nodes without platform redesign.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400000" y="2080000"/>
            <a:ext cx="5596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0C0"/>
                </a:solidFill>
                <a:latin typeface="Calibri"/>
              </a:rPr>
              <a:t>RESEARCH / TECHNICAL FOUNDATION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00000" y="2360000"/>
            <a:ext cx="5596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FastPlateOCR (CCT-S-v2) — Compact Convolutional Transformer for edge license plate recognition</a:t>
            </a:r>
          </a:p>
        </p:txBody>
      </p:sp>
      <p:sp>
        <p:nvSpPr>
          <p:cNvPr id="17412" name="TextBox 17411"/>
          <p:cNvSpPr txBox="1"/>
          <p:nvPr/>
        </p:nvSpPr>
        <p:spPr>
          <a:xfrm>
            <a:off x="400000" y="2620000"/>
            <a:ext cx="5596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PaddleOCR / RapidOCR (PP-OCRv4) — Lightweight ONNX text recognition engine with CTC decoding</a:t>
            </a:r>
          </a:p>
        </p:txBody>
      </p:sp>
      <p:sp>
        <p:nvSpPr>
          <p:cNvPr id="17413" name="TextBox 17412"/>
          <p:cNvSpPr txBox="1"/>
          <p:nvPr/>
        </p:nvSpPr>
        <p:spPr>
          <a:xfrm>
            <a:off x="400000" y="2880000"/>
            <a:ext cx="5596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RF-DETR Small &amp; YOLOv8 Nano — Real-time transformer &amp; CNN object detection architectures</a:t>
            </a:r>
          </a:p>
        </p:txBody>
      </p:sp>
      <p:sp>
        <p:nvSpPr>
          <p:cNvPr id="17414" name="TextBox 17413"/>
          <p:cNvSpPr txBox="1"/>
          <p:nvPr/>
        </p:nvSpPr>
        <p:spPr>
          <a:xfrm>
            <a:off x="400000" y="3140000"/>
            <a:ext cx="5596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OpenCV — 4-point homography perspective rectification &amp; Laplacian variance sharpness filters</a:t>
            </a:r>
          </a:p>
        </p:txBody>
      </p:sp>
      <p:sp>
        <p:nvSpPr>
          <p:cNvPr id="17415" name="TextBox 17414"/>
          <p:cNvSpPr txBox="1"/>
          <p:nvPr/>
        </p:nvSpPr>
        <p:spPr>
          <a:xfrm>
            <a:off x="400000" y="3400000"/>
            <a:ext cx="5596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WebRTC &amp; Socket.io — Low-latency bidirectional browser-to-server video streaming &amp; signaling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400000" y="3660000"/>
            <a:ext cx="5596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Leaflet.js &amp; Leaflet-Heat — Interactive geospatial mapping, dynamic route polylines &amp; GIS heatmaps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400000" y="3920000"/>
            <a:ext cx="5596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MoRTH Rule 50 (CMVR 1989) — Standardized High Security Registration Plate (HSRP) syntactic rules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400000" y="4180000"/>
            <a:ext cx="5596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Haversine Spherical Metric — Geodesic inter-camera transit calculation &amp; speed anomaly detection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400000" y="4500000"/>
            <a:ext cx="5596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0C0"/>
                </a:solidFill>
                <a:latin typeface="Calibri"/>
              </a:rPr>
              <a:t>TRAINING / DATA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400000" y="4760000"/>
            <a:ext cx="5596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Indian License Plate Images dataset — umar1103/final-licence (roadway surveillance crops)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400000" y="5020000"/>
            <a:ext cx="5596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5,000 Curated Indian Samples — Stratified single-line, two-line, and low-res plate fine-tuning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400000" y="5280000"/>
            <a:ext cx="5596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• 228 Held-Out Frozen Benchmark — Zero-leakage verification via SHA-256 &amp; 64-bit pHash deduplication</a:t>
            </a:r>
          </a:p>
        </p:txBody>
      </p:sp>
      <p:sp>
        <p:nvSpPr>
          <p:cNvPr id="17423" name="TextBox 17422"/>
          <p:cNvSpPr txBox="1"/>
          <p:nvPr/>
        </p:nvSpPr>
        <p:spPr>
          <a:xfrm>
            <a:off x="6196000" y="2080000"/>
            <a:ext cx="5596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0070C0"/>
                </a:solidFill>
                <a:latin typeface="Calibri"/>
              </a:rPr>
              <a:t>PROJECT VALIDATION</a:t>
            </a:r>
          </a:p>
        </p:txBody>
      </p:sp>
      <p:sp>
        <p:nvSpPr>
          <p:cNvPr id="17424" name="Rounded Rectangle 17423"/>
          <p:cNvSpPr/>
          <p:nvPr/>
        </p:nvSpPr>
        <p:spPr>
          <a:xfrm>
            <a:off x="6196000" y="2400000"/>
            <a:ext cx="5596000" cy="32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/>
          <a:lstStyle/>
          <a:p>
            <a:pPr algn="ctr"/>
            <a:r>
              <a:rPr sz="800" b="1">
                <a:solidFill>
                  <a:srgbClr val="1F3B57"/>
                </a:solidFill>
              </a:rPr>
              <a:t>Detector</a:t>
            </a:r>
            <a:r>
              <a:rPr sz="800" b="0">
                <a:solidFill>
                  <a:srgbClr val="2E7D32"/>
                </a:solidFill>
              </a:rPr>
              <a:t>   —   97.14% Precision / 97.14% Recall (0% FPR)</a:t>
            </a:r>
          </a:p>
        </p:txBody>
      </p:sp>
      <p:sp>
        <p:nvSpPr>
          <p:cNvPr id="17425" name="Rounded Rectangle 17424"/>
          <p:cNvSpPr/>
          <p:nvPr/>
        </p:nvSpPr>
        <p:spPr>
          <a:xfrm>
            <a:off x="6196000" y="2750000"/>
            <a:ext cx="5596000" cy="32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/>
          <a:lstStyle/>
          <a:p>
            <a:pPr algn="ctr"/>
            <a:r>
              <a:rPr sz="800" b="1">
                <a:solidFill>
                  <a:srgbClr val="1F3B57"/>
                </a:solidFill>
              </a:rPr>
              <a:t>Adaptive OCR</a:t>
            </a:r>
            <a:r>
              <a:rPr sz="800" b="0">
                <a:solidFill>
                  <a:srgbClr val="2E7D32"/>
                </a:solidFill>
              </a:rPr>
              <a:t>   —   48.68% Exact Match (76.40% Char Acc)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6196000" y="3100000"/>
            <a:ext cx="5596000" cy="32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/>
          <a:lstStyle/>
          <a:p>
            <a:pPr algn="ctr"/>
            <a:r>
              <a:rPr sz="800" b="1">
                <a:solidFill>
                  <a:srgbClr val="1F3B57"/>
                </a:solidFill>
              </a:rPr>
              <a:t>Temporal Consensus</a:t>
            </a:r>
            <a:r>
              <a:rPr sz="800" b="0">
                <a:solidFill>
                  <a:srgbClr val="2E7D32"/>
                </a:solidFill>
              </a:rPr>
              <a:t>   —   51.11% Multi-Frame Match (55.26% Oracle)</a:t>
            </a:r>
          </a:p>
        </p:txBody>
      </p:sp>
      <p:sp>
        <p:nvSpPr>
          <p:cNvPr id="17427" name="Rounded Rectangle 17426"/>
          <p:cNvSpPr/>
          <p:nvPr/>
        </p:nvSpPr>
        <p:spPr>
          <a:xfrm>
            <a:off x="6196000" y="3450000"/>
            <a:ext cx="5596000" cy="32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/>
          <a:lstStyle/>
          <a:p>
            <a:pPr algn="ctr"/>
            <a:r>
              <a:rPr sz="800" b="1">
                <a:solidFill>
                  <a:srgbClr val="1F3B57"/>
                </a:solidFill>
              </a:rPr>
              <a:t>Trajectory Engine</a:t>
            </a:r>
            <a:r>
              <a:rPr sz="800" b="0">
                <a:solidFill>
                  <a:srgbClr val="2E7D32"/>
                </a:solidFill>
              </a:rPr>
              <a:t>   —   13 / 13 Unit &amp; Integration Tests PASSED</a:t>
            </a:r>
          </a:p>
        </p:txBody>
      </p:sp>
      <p:sp>
        <p:nvSpPr>
          <p:cNvPr id="17428" name="Rounded Rectangle 17427"/>
          <p:cNvSpPr/>
          <p:nvPr/>
        </p:nvSpPr>
        <p:spPr>
          <a:xfrm>
            <a:off x="6196000" y="3800000"/>
            <a:ext cx="5596000" cy="32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/>
          <a:lstStyle/>
          <a:p>
            <a:pPr algn="ctr"/>
            <a:r>
              <a:rPr sz="800" b="1">
                <a:solidFill>
                  <a:srgbClr val="1F3B57"/>
                </a:solidFill>
              </a:rPr>
              <a:t>Traffic Analytics</a:t>
            </a:r>
            <a:r>
              <a:rPr sz="800" b="0">
                <a:solidFill>
                  <a:srgbClr val="2E7D32"/>
                </a:solidFill>
              </a:rPr>
              <a:t>   —   18 / 18 Flow &amp; Matrix Tests PASSED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196000" y="4150000"/>
            <a:ext cx="5596000" cy="32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/>
          <a:lstStyle/>
          <a:p>
            <a:pPr algn="ctr"/>
            <a:r>
              <a:rPr sz="800" b="1">
                <a:solidFill>
                  <a:srgbClr val="1F3B57"/>
                </a:solidFill>
              </a:rPr>
              <a:t>GIS Map Visualizer</a:t>
            </a:r>
            <a:r>
              <a:rPr sz="800" b="0">
                <a:solidFill>
                  <a:srgbClr val="2E7D32"/>
                </a:solidFill>
              </a:rPr>
              <a:t>   —   12 / 12 Spatial Overlay Tests PASSED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6196000" y="4500000"/>
            <a:ext cx="5596000" cy="32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0000"/>
          <a:lstStyle/>
          <a:p>
            <a:pPr algn="ctr"/>
            <a:r>
              <a:rPr sz="800" b="1">
                <a:solidFill>
                  <a:srgbClr val="1F3B57"/>
                </a:solidFill>
              </a:rPr>
              <a:t>ANPR Service</a:t>
            </a:r>
            <a:r>
              <a:rPr sz="800" b="0">
                <a:solidFill>
                  <a:srgbClr val="2E7D32"/>
                </a:solidFill>
              </a:rPr>
              <a:t>   —   15 / 15 Core API Tests PASSED</a:t>
            </a:r>
          </a:p>
        </p:txBody>
      </p:sp>
      <p:sp>
        <p:nvSpPr>
          <p:cNvPr id="17431" name="TextBox 17430"/>
          <p:cNvSpPr txBox="1"/>
          <p:nvPr/>
        </p:nvSpPr>
        <p:spPr>
          <a:xfrm>
            <a:off x="6196000" y="4910000"/>
            <a:ext cx="5596000" cy="24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0070C0"/>
                </a:solidFill>
                <a:latin typeface="Calibri"/>
              </a:rPr>
              <a:t>VIEW PROTOTYPE / REPOSITORY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196000" y="5180000"/>
            <a:ext cx="5596000" cy="2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95959"/>
                </a:solidFill>
                <a:latin typeface="Calibri"/>
              </a:rPr>
              <a:t>https://github.com/aid278129-cmd/backup-project.git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